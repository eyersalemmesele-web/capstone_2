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425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216" y="1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Erbayne Middleton (Maine)</c:v>
                </c:pt>
              </c:strCache>
            </c:strRef>
          </c:tx>
          <c:spPr>
            <a:ln w="38100" cap="flat">
              <a:solidFill>
                <a:srgbClr val="2DD4B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DD4BF"/>
              </a:solidFill>
              <a:ln w="9525" cap="flat">
                <a:solidFill>
                  <a:srgbClr val="2DD4BF"/>
                </a:solidFill>
                <a:prstDash val="solid"/>
                <a:round/>
              </a:ln>
              <a:effectLst/>
            </c:spPr>
          </c:marker>
          <c:cat>
            <c:strRef>
              <c:f>Sheet1!$A$2:$A$18</c:f>
              <c:strCache>
                <c:ptCount val="17"/>
                <c:pt idx="0">
                  <c:v>Jan '22</c:v>
                </c:pt>
                <c:pt idx="1">
                  <c:v>Apr '22</c:v>
                </c:pt>
                <c:pt idx="2">
                  <c:v>Jul '22</c:v>
                </c:pt>
                <c:pt idx="3">
                  <c:v>Oct '22</c:v>
                </c:pt>
                <c:pt idx="4">
                  <c:v>Jan '23</c:v>
                </c:pt>
                <c:pt idx="5">
                  <c:v>Apr '23</c:v>
                </c:pt>
                <c:pt idx="6">
                  <c:v>Jul '23</c:v>
                </c:pt>
                <c:pt idx="7">
                  <c:v>Oct '23</c:v>
                </c:pt>
                <c:pt idx="8">
                  <c:v>Jan '24</c:v>
                </c:pt>
                <c:pt idx="9">
                  <c:v>Apr '24</c:v>
                </c:pt>
                <c:pt idx="10">
                  <c:v>Jul '24</c:v>
                </c:pt>
                <c:pt idx="11">
                  <c:v>Oct '24</c:v>
                </c:pt>
                <c:pt idx="12">
                  <c:v>Jan '25</c:v>
                </c:pt>
                <c:pt idx="13">
                  <c:v>Apr '25</c:v>
                </c:pt>
                <c:pt idx="14">
                  <c:v>Jul '25</c:v>
                </c:pt>
                <c:pt idx="15">
                  <c:v>Oct '25</c:v>
                </c:pt>
                <c:pt idx="16">
                  <c:v>Dec '25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15700</c:v>
                </c:pt>
                <c:pt idx="1">
                  <c:v>20169</c:v>
                </c:pt>
                <c:pt idx="2">
                  <c:v>19371</c:v>
                </c:pt>
                <c:pt idx="3">
                  <c:v>24947</c:v>
                </c:pt>
                <c:pt idx="4">
                  <c:v>41331</c:v>
                </c:pt>
                <c:pt idx="5">
                  <c:v>35875</c:v>
                </c:pt>
                <c:pt idx="6">
                  <c:v>44731</c:v>
                </c:pt>
                <c:pt idx="7">
                  <c:v>34905</c:v>
                </c:pt>
                <c:pt idx="8">
                  <c:v>43881</c:v>
                </c:pt>
                <c:pt idx="9">
                  <c:v>25764</c:v>
                </c:pt>
                <c:pt idx="10">
                  <c:v>42202</c:v>
                </c:pt>
                <c:pt idx="11">
                  <c:v>36520</c:v>
                </c:pt>
                <c:pt idx="12">
                  <c:v>45308</c:v>
                </c:pt>
                <c:pt idx="13">
                  <c:v>63103</c:v>
                </c:pt>
                <c:pt idx="14">
                  <c:v>59531</c:v>
                </c:pt>
                <c:pt idx="15">
                  <c:v>93456</c:v>
                </c:pt>
                <c:pt idx="16">
                  <c:v>65695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966-4441-81FE-DD082DBFBA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Shruti Reddy (Maryland)</c:v>
                </c:pt>
              </c:strCache>
            </c:strRef>
          </c:tx>
          <c:spPr>
            <a:ln w="38100" cap="flat">
              <a:solidFill>
                <a:srgbClr val="FBBF2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BBF24"/>
              </a:solidFill>
              <a:ln w="9525" cap="flat">
                <a:solidFill>
                  <a:srgbClr val="FBBF24"/>
                </a:solidFill>
                <a:prstDash val="solid"/>
                <a:round/>
              </a:ln>
              <a:effectLst/>
            </c:spPr>
          </c:marker>
          <c:cat>
            <c:strRef>
              <c:f>Sheet1!$A$2:$A$18</c:f>
              <c:strCache>
                <c:ptCount val="17"/>
                <c:pt idx="0">
                  <c:v>Jan '22</c:v>
                </c:pt>
                <c:pt idx="1">
                  <c:v>Apr '22</c:v>
                </c:pt>
                <c:pt idx="2">
                  <c:v>Jul '22</c:v>
                </c:pt>
                <c:pt idx="3">
                  <c:v>Oct '22</c:v>
                </c:pt>
                <c:pt idx="4">
                  <c:v>Jan '23</c:v>
                </c:pt>
                <c:pt idx="5">
                  <c:v>Apr '23</c:v>
                </c:pt>
                <c:pt idx="6">
                  <c:v>Jul '23</c:v>
                </c:pt>
                <c:pt idx="7">
                  <c:v>Oct '23</c:v>
                </c:pt>
                <c:pt idx="8">
                  <c:v>Jan '24</c:v>
                </c:pt>
                <c:pt idx="9">
                  <c:v>Apr '24</c:v>
                </c:pt>
                <c:pt idx="10">
                  <c:v>Jul '24</c:v>
                </c:pt>
                <c:pt idx="11">
                  <c:v>Oct '24</c:v>
                </c:pt>
                <c:pt idx="12">
                  <c:v>Jan '25</c:v>
                </c:pt>
                <c:pt idx="13">
                  <c:v>Apr '25</c:v>
                </c:pt>
                <c:pt idx="14">
                  <c:v>Jul '25</c:v>
                </c:pt>
                <c:pt idx="15">
                  <c:v>Oct '25</c:v>
                </c:pt>
                <c:pt idx="16">
                  <c:v>Dec '25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190064</c:v>
                </c:pt>
                <c:pt idx="1">
                  <c:v>179004</c:v>
                </c:pt>
                <c:pt idx="2">
                  <c:v>231208</c:v>
                </c:pt>
                <c:pt idx="3">
                  <c:v>200423</c:v>
                </c:pt>
                <c:pt idx="4">
                  <c:v>247207</c:v>
                </c:pt>
                <c:pt idx="5">
                  <c:v>253354</c:v>
                </c:pt>
                <c:pt idx="6">
                  <c:v>218664</c:v>
                </c:pt>
                <c:pt idx="7">
                  <c:v>248095</c:v>
                </c:pt>
                <c:pt idx="8">
                  <c:v>234650</c:v>
                </c:pt>
                <c:pt idx="9">
                  <c:v>225960</c:v>
                </c:pt>
                <c:pt idx="10">
                  <c:v>233256</c:v>
                </c:pt>
                <c:pt idx="11">
                  <c:v>247456</c:v>
                </c:pt>
                <c:pt idx="12">
                  <c:v>277874</c:v>
                </c:pt>
                <c:pt idx="13">
                  <c:v>206982</c:v>
                </c:pt>
                <c:pt idx="14">
                  <c:v>310327</c:v>
                </c:pt>
                <c:pt idx="15">
                  <c:v>359699</c:v>
                </c:pt>
                <c:pt idx="16">
                  <c:v>332129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966-4441-81FE-DD082DBFBA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71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5D5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C2B3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DD4BF"/>
                </a:solidFill>
                <a:latin typeface="Arial"/>
              </a:defRPr>
            </a:pPr>
            <a:r>
              <a:rPr lang="en-US" sz="1200" b="0" i="0" u="none" strike="noStrike" dirty="0" err="1">
                <a:solidFill>
                  <a:srgbClr val="2DD4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Erbayne</a:t>
            </a:r>
            <a:r>
              <a:rPr lang="en-US" sz="1200" b="0" i="0" u="none" strike="noStrike" dirty="0">
                <a:solidFill>
                  <a:srgbClr val="2DD4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Middleton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4E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93F-A943-9BC2-16CA87563B39}"/>
              </c:ext>
            </c:extLst>
          </c:dPt>
          <c:dPt>
            <c:idx val="1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93F-A943-9BC2-16CA87563B39}"/>
              </c:ext>
            </c:extLst>
          </c:dPt>
          <c:dPt>
            <c:idx val="2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93F-A943-9BC2-16CA87563B39}"/>
              </c:ext>
            </c:extLst>
          </c:dPt>
          <c:dPt>
            <c:idx val="3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93F-A943-9BC2-16CA87563B39}"/>
              </c:ext>
            </c:extLst>
          </c:dPt>
          <c:dPt>
            <c:idx val="4"/>
            <c:bubble3D val="0"/>
            <c:spPr>
              <a:solidFill>
                <a:srgbClr val="9333E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93F-A943-9BC2-16CA87563B3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93F-A943-9BC2-16CA87563B3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93F-A943-9BC2-16CA87563B3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93F-A943-9BC2-16CA87563B39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93F-A943-9BC2-16CA87563B39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93F-A943-9BC2-16CA87563B3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Technology &amp; Accessories</c:v>
                </c:pt>
                <c:pt idx="1">
                  <c:v>Textbooks</c:v>
                </c:pt>
                <c:pt idx="2">
                  <c:v>Art Supplies</c:v>
                </c:pt>
                <c:pt idx="3">
                  <c:v>Books (General)</c:v>
                </c:pt>
                <c:pt idx="4">
                  <c:v>Stationery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</c:v>
                </c:pt>
                <c:pt idx="1">
                  <c:v>16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93F-A943-9BC2-16CA87563B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C2B3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BBF24"/>
                </a:solidFill>
                <a:latin typeface="Arial"/>
              </a:defRPr>
            </a:pPr>
            <a:r>
              <a:rPr lang="en-US" sz="1200" b="0" i="0" u="none" strike="noStrike" dirty="0">
                <a:solidFill>
                  <a:srgbClr val="FBBF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Shruti Reddy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4E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27A-0544-B979-096EC28BF4BD}"/>
              </c:ext>
            </c:extLst>
          </c:dPt>
          <c:dPt>
            <c:idx val="1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27A-0544-B979-096EC28BF4BD}"/>
              </c:ext>
            </c:extLst>
          </c:dPt>
          <c:dPt>
            <c:idx val="2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27A-0544-B979-096EC28BF4BD}"/>
              </c:ext>
            </c:extLst>
          </c:dPt>
          <c:dPt>
            <c:idx val="3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27A-0544-B979-096EC28BF4BD}"/>
              </c:ext>
            </c:extLst>
          </c:dPt>
          <c:dPt>
            <c:idx val="4"/>
            <c:bubble3D val="0"/>
            <c:spPr>
              <a:solidFill>
                <a:srgbClr val="9333E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27A-0544-B979-096EC28BF4B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27A-0544-B979-096EC28BF4B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27A-0544-B979-096EC28BF4B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27A-0544-B979-096EC28BF4B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27A-0544-B979-096EC28BF4BD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27A-0544-B979-096EC28BF4B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Technology &amp; Accessories</c:v>
                </c:pt>
                <c:pt idx="1">
                  <c:v>Textbooks</c:v>
                </c:pt>
                <c:pt idx="2">
                  <c:v>Art Supplies</c:v>
                </c:pt>
                <c:pt idx="3">
                  <c:v>Books (General)</c:v>
                </c:pt>
                <c:pt idx="4">
                  <c:v>Stationery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</c:v>
                </c:pt>
                <c:pt idx="1">
                  <c:v>17</c:v>
                </c:pt>
                <c:pt idx="2">
                  <c:v>4</c:v>
                </c:pt>
                <c:pt idx="3">
                  <c:v>4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27A-0544-B979-096EC28BF4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C2B3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4569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6158" y="1005840"/>
            <a:ext cx="7707761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EmporiUm Sales Territory Analysis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0" y="2487168"/>
            <a:ext cx="274320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 dirty="0"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263347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3218688"/>
            <a:ext cx="2542032" cy="804672"/>
          </a:xfrm>
          <a:prstGeom prst="rect">
            <a:avLst/>
          </a:prstGeom>
          <a:solidFill>
            <a:srgbClr val="243447"/>
          </a:solidFill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3218688"/>
            <a:ext cx="2542032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3291840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60A5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ANALYST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4360" y="3493008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Eyerusalem Debero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73552" y="3218688"/>
            <a:ext cx="2542032" cy="804672"/>
          </a:xfrm>
          <a:prstGeom prst="rect">
            <a:avLst/>
          </a:prstGeom>
          <a:solidFill>
            <a:srgbClr val="243447"/>
          </a:solidFill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73552" y="3218688"/>
            <a:ext cx="2542032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364992" y="3291840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60A5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TERRITORY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64992" y="3493008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Erbayne Middleton — Maine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44184" y="3218688"/>
            <a:ext cx="2542032" cy="804672"/>
          </a:xfrm>
          <a:prstGeom prst="rect">
            <a:avLst/>
          </a:prstGeom>
          <a:solidFill>
            <a:srgbClr val="243447"/>
          </a:solidFill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44184" y="3218688"/>
            <a:ext cx="2542032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35624" y="3291840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60A5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TERRITORY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135624" y="3493008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Shruti Reddy — Maryland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14400" y="42062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B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January 2022 – December 2025   ·   100,000+ Transactions   ·   5 Datasets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3444"/>
            <a:ext cx="9144000" cy="65836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 Did</a:t>
            </a:r>
            <a:endParaRPr lang="en-US" sz="26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92608" y="822960"/>
            <a:ext cx="855878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92608" y="822960"/>
            <a:ext cx="64008" cy="71323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75488" y="987552"/>
            <a:ext cx="384048" cy="38404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5488" y="987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87552" y="886968"/>
            <a:ext cx="7726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Loaded 5 datasets — 100,000+ sales rows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87552" y="120700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StoreSales  ·  StoreDetail  ·  Products  ·  ProductCategories  ·  CustomerList</a:t>
            </a:r>
          </a:p>
        </p:txBody>
      </p:sp>
      <p:sp>
        <p:nvSpPr>
          <p:cNvPr id="11" name="Shape 9"/>
          <p:cNvSpPr/>
          <p:nvPr/>
        </p:nvSpPr>
        <p:spPr>
          <a:xfrm>
            <a:off x="292608" y="1618488"/>
            <a:ext cx="855878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92608" y="1618488"/>
            <a:ext cx="6400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5488" y="1783080"/>
            <a:ext cx="384048" cy="38404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548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87552" y="1682496"/>
            <a:ext cx="7726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2 bugs that would have crashed the notebook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87552" y="2002536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pipe-separator bug in customer file  +  hidden spaces in StoreDetail column names</a:t>
            </a:r>
          </a:p>
        </p:txBody>
      </p:sp>
      <p:sp>
        <p:nvSpPr>
          <p:cNvPr id="17" name="Shape 15"/>
          <p:cNvSpPr/>
          <p:nvPr/>
        </p:nvSpPr>
        <p:spPr>
          <a:xfrm>
            <a:off x="292608" y="2414016"/>
            <a:ext cx="855878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92608" y="2414016"/>
            <a:ext cx="64008" cy="71323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5488" y="2578608"/>
            <a:ext cx="384048" cy="38404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5488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87552" y="2478024"/>
            <a:ext cx="7726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Answered 6 business questions with code and charts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87552" y="2798064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Territory locations  ·  Revenue  ·  Store rankings  ·  Customers  ·  Categories  ·  Recommendations</a:t>
            </a:r>
          </a:p>
        </p:txBody>
      </p:sp>
      <p:sp>
        <p:nvSpPr>
          <p:cNvPr id="23" name="Shape 21"/>
          <p:cNvSpPr/>
          <p:nvPr/>
        </p:nvSpPr>
        <p:spPr>
          <a:xfrm>
            <a:off x="292608" y="3209544"/>
            <a:ext cx="855878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92608" y="3209544"/>
            <a:ext cx="64008" cy="7132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75488" y="3374136"/>
            <a:ext cx="384048" cy="38404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75488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87552" y="3273552"/>
            <a:ext cx="7726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Investigated every revenue dip by category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87552" y="3593592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Python function to identify which category caused each drop — seasonal vs operational</a:t>
            </a:r>
          </a:p>
        </p:txBody>
      </p:sp>
      <p:sp>
        <p:nvSpPr>
          <p:cNvPr id="29" name="Shape 27"/>
          <p:cNvSpPr/>
          <p:nvPr/>
        </p:nvSpPr>
        <p:spPr>
          <a:xfrm>
            <a:off x="292608" y="4005072"/>
            <a:ext cx="855878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92608" y="4005072"/>
            <a:ext cx="6400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75488" y="4169664"/>
            <a:ext cx="384048" cy="38404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75488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87552" y="4069080"/>
            <a:ext cx="7726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Gave specific marketing recommendations backed by data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87552" y="4389120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priority actions for Erbayne  ·  4 priority actions for Shruti  ·  cross-territory VIP strategy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Two Territories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4041648" cy="4059936"/>
          </a:xfrm>
          <a:prstGeom prst="rect">
            <a:avLst/>
          </a:prstGeom>
          <a:solidFill>
            <a:srgbClr val="243447"/>
          </a:solidFill>
          <a:ln w="25400">
            <a:solidFill>
              <a:srgbClr val="2DD4B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4041648" cy="475488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56032" y="804672"/>
            <a:ext cx="73152" cy="47548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02336" y="841248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ERBAYNE MIDDLETON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47472" y="1316736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B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Maine  ·  Northeast Region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7472" y="1554480"/>
            <a:ext cx="3858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0" b="1" dirty="0">
                <a:solidFill>
                  <a:srgbClr val="2DD4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8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47472" y="246888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0" dirty="0">
                <a:solidFill>
                  <a:srgbClr val="2DD4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4048" y="2816352"/>
            <a:ext cx="3785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Bangor  ·  Bar Harbor  ·  Kennebunkport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Lewiston  ·  Orono  ·  South Portland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84048" y="3456432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Revenue:  $1.89M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84048" y="3767328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D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Growth 2022 → 2025:  ×4  (400%)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84048" y="4041648"/>
            <a:ext cx="3785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customer:  Rosita  ($3,638)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52544" y="2286000"/>
            <a:ext cx="640080" cy="640080"/>
          </a:xfrm>
          <a:prstGeom prst="ellipse">
            <a:avLst/>
          </a:prstGeom>
          <a:solidFill>
            <a:srgbClr val="2E4057"/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352544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46320" y="804672"/>
            <a:ext cx="4041648" cy="4059936"/>
          </a:xfrm>
          <a:prstGeom prst="rect">
            <a:avLst/>
          </a:prstGeom>
          <a:solidFill>
            <a:srgbClr val="243447"/>
          </a:solidFill>
          <a:ln w="25400">
            <a:solidFill>
              <a:srgbClr val="FBBF2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46320" y="804672"/>
            <a:ext cx="4041648" cy="475488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46320" y="804672"/>
            <a:ext cx="73152" cy="47548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92624" y="841248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SHRUTI REDDY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937760" y="1316736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B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Maryland  ·  East Region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937760" y="1554480"/>
            <a:ext cx="3858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0" b="1" dirty="0">
                <a:solidFill>
                  <a:srgbClr val="FBBF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sz="8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937760" y="246888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0" dirty="0">
                <a:solidFill>
                  <a:srgbClr val="FBBF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974336" y="2816352"/>
            <a:ext cx="3785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F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Baltimore  ·  Annapolis  ·  Germantown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E0F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North Harford  ·  Parkville  ·  Howard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E0F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Ridgely  ·  Back River  ·  Queen Anne's Co.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937760" y="3456432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Revenue:  $11.54M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937760" y="3767328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D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Growth 2022 → 2025:  ×1.75  (75%)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937760" y="4041648"/>
            <a:ext cx="3785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customer:  Cole Brown  ($7,602)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Trend — 4 Years of Growth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028352426"/>
              </p:ext>
            </p:extLst>
          </p:nvPr>
        </p:nvGraphicFramePr>
        <p:xfrm>
          <a:off x="256032" y="841248"/>
          <a:ext cx="8631936" cy="29443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256032" y="3913632"/>
            <a:ext cx="2011680" cy="877824"/>
          </a:xfrm>
          <a:prstGeom prst="rect">
            <a:avLst/>
          </a:prstGeom>
          <a:solidFill>
            <a:srgbClr val="FFFFFF"/>
          </a:solidFill>
          <a:ln w="25400">
            <a:solidFill>
              <a:srgbClr val="2DD4B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56032" y="3913632"/>
            <a:ext cx="2011680" cy="640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29184" y="3986784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DD4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$16K/mo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29184" y="437083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1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Erbayne  Jan 2022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432304" y="3913632"/>
            <a:ext cx="2011680" cy="877824"/>
          </a:xfrm>
          <a:prstGeom prst="rect">
            <a:avLst/>
          </a:prstGeom>
          <a:solidFill>
            <a:srgbClr val="FFFFFF"/>
          </a:solidFill>
          <a:ln w="25400">
            <a:solidFill>
              <a:srgbClr val="2DD4B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432304" y="3913632"/>
            <a:ext cx="2011680" cy="640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505456" y="3986784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DD4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$65K/mo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505456" y="437083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1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Erbayne  Dec 2025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608576" y="3913632"/>
            <a:ext cx="2011680" cy="877824"/>
          </a:xfrm>
          <a:prstGeom prst="rect">
            <a:avLst/>
          </a:prstGeom>
          <a:solidFill>
            <a:srgbClr val="FFFFFF"/>
          </a:solidFill>
          <a:ln w="254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608576" y="3913632"/>
            <a:ext cx="201168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681728" y="3986784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4D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×4 Growth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681728" y="437083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1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Erbayne 400% increase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784848" y="3913632"/>
            <a:ext cx="2011680" cy="877824"/>
          </a:xfrm>
          <a:prstGeom prst="rect">
            <a:avLst/>
          </a:prstGeom>
          <a:solidFill>
            <a:srgbClr val="FFFFFF"/>
          </a:solidFill>
          <a:ln w="25400">
            <a:solidFill>
              <a:srgbClr val="FBBF2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784848" y="3913632"/>
            <a:ext cx="201168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858000" y="3986784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BBF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$332K/mo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858000" y="437083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1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Shruti  Dec 2025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 Performance Rankings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56032" y="804672"/>
            <a:ext cx="4133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D4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ERBAYNE MIDDLETON — Balanced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54880" y="804672"/>
            <a:ext cx="4133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BF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SHRUTI REDDY — Note: North Harford outlier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4133088" cy="493776"/>
          </a:xfrm>
          <a:prstGeom prst="rect">
            <a:avLst/>
          </a:prstGeom>
          <a:solidFill>
            <a:srgbClr val="EAF8F6"/>
          </a:solidFill>
          <a:ln w="25400">
            <a:solidFill>
              <a:srgbClr val="2DD4B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9184" y="123444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94944" y="1234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South Portland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487168" y="1271016"/>
            <a:ext cx="1463040" cy="1828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05072" y="123444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$333K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56032" y="1682496"/>
            <a:ext cx="413308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9184" y="180136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1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94944" y="18013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Orono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487168" y="1837944"/>
            <a:ext cx="1448410" cy="1828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005072" y="180136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$331K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56032" y="2249424"/>
            <a:ext cx="413308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29184" y="236829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1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4944" y="23682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Kennebunkport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487168" y="2404872"/>
            <a:ext cx="1419149" cy="1828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005072" y="236829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$322K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56032" y="2816352"/>
            <a:ext cx="413308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29184" y="293522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1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94944" y="29352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Lewiston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487168" y="2971800"/>
            <a:ext cx="1331366" cy="1828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005072" y="293522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$304K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56032" y="3383280"/>
            <a:ext cx="413308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9184" y="350215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1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94944" y="35021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Bangor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487168" y="3538728"/>
            <a:ext cx="1316736" cy="1828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005072" y="350215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$301K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56032" y="3950208"/>
            <a:ext cx="413308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29184" y="406908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1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#6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94944" y="4069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 Harbor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487168" y="4105656"/>
            <a:ext cx="1258214" cy="1828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005072" y="406908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$287K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754880" y="1115568"/>
            <a:ext cx="4133088" cy="493776"/>
          </a:xfrm>
          <a:prstGeom prst="rect">
            <a:avLst/>
          </a:prstGeom>
          <a:solidFill>
            <a:srgbClr val="FEF2F2"/>
          </a:solidFill>
          <a:ln w="25400">
            <a:solidFill>
              <a:srgbClr val="F871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828032" y="123444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193792" y="12344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North Harford  ⚠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858000" y="1257300"/>
            <a:ext cx="1463040" cy="1828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436731" y="1243584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$8.7M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754880" y="1682496"/>
            <a:ext cx="413308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828032" y="180136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1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193792" y="18013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Germantown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7060147" y="1820054"/>
            <a:ext cx="554083" cy="1828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360200" y="182522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$585K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754880" y="2249424"/>
            <a:ext cx="413308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4"/>
            </a:solidFill>
            <a:prstDash val="solid"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4828032" y="236829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1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193792" y="23682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Parkville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7078540" y="2412227"/>
            <a:ext cx="332602" cy="1828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8404727" y="239115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$320K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754880" y="2816352"/>
            <a:ext cx="413308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4828032" y="293522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1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193792" y="29352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Howard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7114032" y="2980944"/>
            <a:ext cx="331724" cy="1828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8366561" y="295351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$319K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4736592" y="3364992"/>
            <a:ext cx="413308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4828032" y="350215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1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5193792" y="3502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Baltimore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7092479" y="3538728"/>
            <a:ext cx="323933" cy="1828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8402540" y="3525211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$310K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4754880" y="3950208"/>
            <a:ext cx="413308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4828032" y="406908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1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#6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5193792" y="4069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Annapolis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7093005" y="4105656"/>
            <a:ext cx="306135" cy="1828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8392602" y="4051985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$289K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256032" y="470001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D4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6 Erbayne stores within $45K — balanced, consistent performance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4754880" y="470001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71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North Harford = 75% of Shruti's revenue.  14× the next store.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Customers by Territory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828800" y="804672"/>
            <a:ext cx="5486400" cy="713232"/>
          </a:xfrm>
          <a:prstGeom prst="rect">
            <a:avLst/>
          </a:prstGeom>
          <a:solidFill>
            <a:srgbClr val="2E4057"/>
          </a:solidFill>
          <a:ln w="317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828800" y="804672"/>
            <a:ext cx="548640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920240" y="88696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★  Trent Lane  —  ID #99  |  Top 10 in BOTH territories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920240" y="120700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Recommended for cross-territory VIP loyalty offer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56032" y="1664208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DD4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ERBAYNE MIDDLETON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46320" y="1664208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BBF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SHRUTI REDDY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56032" y="1975104"/>
            <a:ext cx="4041648" cy="493776"/>
          </a:xfrm>
          <a:prstGeom prst="rect">
            <a:avLst/>
          </a:prstGeom>
          <a:solidFill>
            <a:srgbClr val="0F3460"/>
          </a:solidFill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9184" y="2066544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9184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49808" y="20939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Rosita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46120" y="20939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D4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$3,638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56032" y="2542032"/>
            <a:ext cx="4041648" cy="493776"/>
          </a:xfrm>
          <a:prstGeom prst="rect">
            <a:avLst/>
          </a:prstGeom>
          <a:solidFill>
            <a:srgbClr val="243B6E"/>
          </a:solidFill>
          <a:ln w="12700">
            <a:solidFill>
              <a:srgbClr val="34526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9184" y="2633472"/>
            <a:ext cx="292608" cy="292608"/>
          </a:xfrm>
          <a:prstGeom prst="ellipse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29184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49808" y="26609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Karen Walker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246120" y="26609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F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$3,362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56032" y="3108960"/>
            <a:ext cx="4041648" cy="493776"/>
          </a:xfrm>
          <a:prstGeom prst="rect">
            <a:avLst/>
          </a:prstGeom>
          <a:solidFill>
            <a:srgbClr val="1E3A5F"/>
          </a:solidFill>
          <a:ln w="12700">
            <a:solidFill>
              <a:srgbClr val="34526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29184" y="3200400"/>
            <a:ext cx="292608" cy="292608"/>
          </a:xfrm>
          <a:prstGeom prst="ellipse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29184" y="3200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49808" y="32278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Maddy Perez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246120" y="3227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F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$2,706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56032" y="3675888"/>
            <a:ext cx="4041648" cy="493776"/>
          </a:xfrm>
          <a:prstGeom prst="rect">
            <a:avLst/>
          </a:prstGeom>
          <a:solidFill>
            <a:srgbClr val="243B6E"/>
          </a:solidFill>
          <a:ln w="12700">
            <a:solidFill>
              <a:srgbClr val="34526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29184" y="3767328"/>
            <a:ext cx="292608" cy="292608"/>
          </a:xfrm>
          <a:prstGeom prst="ellipse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9184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49808" y="3794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Mike H.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246120" y="3794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F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$2,695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56032" y="4242816"/>
            <a:ext cx="4041648" cy="493776"/>
          </a:xfrm>
          <a:prstGeom prst="rect">
            <a:avLst/>
          </a:prstGeom>
          <a:solidFill>
            <a:srgbClr val="1E3A5F"/>
          </a:solidFill>
          <a:ln w="12700">
            <a:solidFill>
              <a:srgbClr val="34526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29184" y="4334256"/>
            <a:ext cx="292608" cy="292608"/>
          </a:xfrm>
          <a:prstGeom prst="ellipse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29184" y="4334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49808" y="43616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Philip Banks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246120" y="4361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F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$2,662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846320" y="1975104"/>
            <a:ext cx="4041648" cy="493776"/>
          </a:xfrm>
          <a:prstGeom prst="rect">
            <a:avLst/>
          </a:prstGeom>
          <a:solidFill>
            <a:srgbClr val="3D2200"/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919472" y="2066544"/>
            <a:ext cx="292608" cy="2926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919472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340096" y="20939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Cole Brown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836408" y="20939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BBF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$7,602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846320" y="2542032"/>
            <a:ext cx="4041648" cy="493776"/>
          </a:xfrm>
          <a:prstGeom prst="rect">
            <a:avLst/>
          </a:prstGeom>
          <a:solidFill>
            <a:srgbClr val="3D2400"/>
          </a:solidFill>
          <a:ln w="12700">
            <a:solidFill>
              <a:srgbClr val="34526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919472" y="2633472"/>
            <a:ext cx="292608" cy="292608"/>
          </a:xfrm>
          <a:prstGeom prst="ellipse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919472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340096" y="26609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Donna Hayward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836408" y="26609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F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$7,081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4846320" y="3108960"/>
            <a:ext cx="4041648" cy="493776"/>
          </a:xfrm>
          <a:prstGeom prst="rect">
            <a:avLst/>
          </a:prstGeom>
          <a:solidFill>
            <a:srgbClr val="2D1B00"/>
          </a:solidFill>
          <a:ln w="12700">
            <a:solidFill>
              <a:srgbClr val="34526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919472" y="3200400"/>
            <a:ext cx="292608" cy="292608"/>
          </a:xfrm>
          <a:prstGeom prst="ellipse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4919472" y="3200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340096" y="32278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Avon Barksdale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836408" y="3227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F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$6,172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4846320" y="3675888"/>
            <a:ext cx="4041648" cy="493776"/>
          </a:xfrm>
          <a:prstGeom prst="rect">
            <a:avLst/>
          </a:prstGeom>
          <a:solidFill>
            <a:srgbClr val="1E2D4A"/>
          </a:solidFill>
          <a:ln w="254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919472" y="3767328"/>
            <a:ext cx="292608" cy="292608"/>
          </a:xfrm>
          <a:prstGeom prst="ellipse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4919472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340096" y="3794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Trent Lane  ★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7836408" y="3794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F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$6,076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4846320" y="4242816"/>
            <a:ext cx="4041648" cy="493776"/>
          </a:xfrm>
          <a:prstGeom prst="rect">
            <a:avLst/>
          </a:prstGeom>
          <a:solidFill>
            <a:srgbClr val="2D1B00"/>
          </a:solidFill>
          <a:ln w="12700">
            <a:solidFill>
              <a:srgbClr val="34526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4919472" y="4334256"/>
            <a:ext cx="292608" cy="292608"/>
          </a:xfrm>
          <a:prstGeom prst="ellipse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4919472" y="4334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5340096" y="43616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Magnitude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7836408" y="4361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F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$5,916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Category Performance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850905628"/>
              </p:ext>
            </p:extLst>
          </p:nvPr>
        </p:nvGraphicFramePr>
        <p:xfrm>
          <a:off x="137160" y="804672"/>
          <a:ext cx="420624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>
            <p:extLst>
              <p:ext uri="{D42A27DB-BD31-4B8C-83A1-F6EECF244321}">
                <p14:modId xmlns:p14="http://schemas.microsoft.com/office/powerpoint/2010/main" val="4135632436"/>
              </p:ext>
            </p:extLst>
          </p:nvPr>
        </p:nvGraphicFramePr>
        <p:xfrm>
          <a:off x="4800600" y="804672"/>
          <a:ext cx="420624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256032" y="3858768"/>
            <a:ext cx="219456" cy="21945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30352" y="384048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&amp; Accessories  72%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1993392" y="3858768"/>
            <a:ext cx="219456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2267712" y="384048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Textbooks  16–17%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3730752" y="3858768"/>
            <a:ext cx="219456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4005072" y="384048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 Supplies  4%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468112" y="3858768"/>
            <a:ext cx="219456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742432" y="384048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Books (General)  2–4%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7205472" y="3858768"/>
            <a:ext cx="219456" cy="219456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7479792" y="384048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Stationery  2%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256032" y="4169664"/>
            <a:ext cx="2798064" cy="896112"/>
          </a:xfrm>
          <a:prstGeom prst="rect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256032" y="4169664"/>
            <a:ext cx="2798064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347472" y="424281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&amp; Accessories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347472" y="4498848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~70% of revenue in BOTH territories.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#1 priority — protect it always.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3200400" y="4169664"/>
            <a:ext cx="2798064" cy="896112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3200400" y="4169664"/>
            <a:ext cx="2798064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3291840" y="424281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Textbooks — seasonal peak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3291840" y="4498848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Spikes Aug–Sep and January.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 campaigns before those windows.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6144768" y="4169664"/>
            <a:ext cx="2798064" cy="896112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6144768" y="4169664"/>
            <a:ext cx="2798064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6236208" y="424281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 Supplies growth gap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6236208" y="4498848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% share — Shruti earns 6× more.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 opportunity for Erbayne.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Dip Analysis — What Actually Happened?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8631936" cy="713232"/>
          </a:xfrm>
          <a:prstGeom prst="rect">
            <a:avLst/>
          </a:prstGeom>
          <a:solidFill>
            <a:srgbClr val="243447"/>
          </a:solidFill>
          <a:ln w="12700">
            <a:solidFill>
              <a:srgbClr val="34526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0624" y="859536"/>
            <a:ext cx="8302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built a Python function that automatically finds every month where revenue dropped more than 15% — then compares each category between that month and the month before. This reveals exactly which category caused the drop.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56032" y="1645920"/>
            <a:ext cx="2798064" cy="2651760"/>
          </a:xfrm>
          <a:prstGeom prst="rect">
            <a:avLst/>
          </a:prstGeom>
          <a:solidFill>
            <a:srgbClr val="243447"/>
          </a:solidFill>
          <a:ln w="25400">
            <a:solidFill>
              <a:srgbClr val="F871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56032" y="1645920"/>
            <a:ext cx="2798064" cy="43891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9184" y="17373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OPERATIONAL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7472" y="2157984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📉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47472" y="2798064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&amp; Accessories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drops in January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7472" y="3346704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71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Post-holiday slowdown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7472" y="3621024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a January promotion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7A9B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fill the revenue gap.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0" y="1645920"/>
            <a:ext cx="2798064" cy="2651760"/>
          </a:xfrm>
          <a:prstGeom prst="rect">
            <a:avLst/>
          </a:prstGeom>
          <a:solidFill>
            <a:srgbClr val="243447"/>
          </a:solidFill>
          <a:ln w="254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0" y="1645920"/>
            <a:ext cx="2798064" cy="4389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73552" y="17373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SEASONAL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91840" y="2157984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📚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291840" y="2798064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Textbooks drop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May – July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291840" y="3346704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D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— no action needed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291840" y="3621024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is out.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7A9B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Completely expected.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144768" y="1645920"/>
            <a:ext cx="2798064" cy="2651760"/>
          </a:xfrm>
          <a:prstGeom prst="rect">
            <a:avLst/>
          </a:prstGeom>
          <a:solidFill>
            <a:srgbClr val="243447"/>
          </a:solidFill>
          <a:ln w="25400">
            <a:solidFill>
              <a:srgbClr val="FBBF2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144768" y="1645920"/>
            <a:ext cx="2798064" cy="43891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17920" y="17373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INVESTIGATE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236208" y="2157984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🏪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36208" y="2798064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categories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 together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236208" y="3346704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BBF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Store-level issue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236208" y="3621024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staffing, local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7A9B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events, or data quality.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1520" y="44074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0F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difference between seasonal and operational dips is what makes this a real technical analysis.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Recommendations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4041648" cy="32004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56032" y="822960"/>
            <a:ext cx="73152" cy="3200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02336" y="850392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ERBAYNE MIDDLETON — Maine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46320" y="822960"/>
            <a:ext cx="4041648" cy="32004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46320" y="822960"/>
            <a:ext cx="73152" cy="3200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92624" y="850392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SHRUTI REDDY — Maryland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" y="1216152"/>
            <a:ext cx="404164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56032" y="1207008"/>
            <a:ext cx="64008" cy="78638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0624" y="1389888"/>
            <a:ext cx="365760" cy="36576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20624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14400" y="1271016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 Technology &amp; Accessories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14400" y="1572768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10% lift = +$136,000 per year.  It is 72% of revenue.</a:t>
            </a:r>
          </a:p>
        </p:txBody>
      </p:sp>
      <p:sp>
        <p:nvSpPr>
          <p:cNvPr id="17" name="Shape 15"/>
          <p:cNvSpPr/>
          <p:nvPr/>
        </p:nvSpPr>
        <p:spPr>
          <a:xfrm>
            <a:off x="256032" y="2064652"/>
            <a:ext cx="404164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56032" y="2084832"/>
            <a:ext cx="64008" cy="78638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20624" y="2267712"/>
            <a:ext cx="365760" cy="36576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20624" y="2267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14400" y="2148840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 Art Supplies &amp; Books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14400" y="2450592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 universities. Bundle deals for students. 6× gap to close.</a:t>
            </a:r>
          </a:p>
        </p:txBody>
      </p:sp>
      <p:sp>
        <p:nvSpPr>
          <p:cNvPr id="23" name="Shape 21"/>
          <p:cNvSpPr/>
          <p:nvPr/>
        </p:nvSpPr>
        <p:spPr>
          <a:xfrm>
            <a:off x="256032" y="2962656"/>
            <a:ext cx="404164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56032" y="2962656"/>
            <a:ext cx="64008" cy="78638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20624" y="3145536"/>
            <a:ext cx="365760" cy="36576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20624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14400" y="3026664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Activate Bangor &amp; Bar Harbor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14400" y="3328416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$45K gap to top store. Loyalty double-points weekend.</a:t>
            </a:r>
          </a:p>
        </p:txBody>
      </p:sp>
      <p:sp>
        <p:nvSpPr>
          <p:cNvPr id="29" name="Shape 27"/>
          <p:cNvSpPr/>
          <p:nvPr/>
        </p:nvSpPr>
        <p:spPr>
          <a:xfrm>
            <a:off x="256032" y="3840480"/>
            <a:ext cx="404164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56032" y="3840480"/>
            <a:ext cx="64008" cy="78638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20624" y="4023360"/>
            <a:ext cx="365760" cy="36576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20624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14400" y="3904488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 top customers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14400" y="4206240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Rosita, Karen Walker, Maddy Perez — exclusive early access offers.</a:t>
            </a:r>
          </a:p>
        </p:txBody>
      </p:sp>
      <p:sp>
        <p:nvSpPr>
          <p:cNvPr id="35" name="Shape 33"/>
          <p:cNvSpPr/>
          <p:nvPr/>
        </p:nvSpPr>
        <p:spPr>
          <a:xfrm>
            <a:off x="4846320" y="1207008"/>
            <a:ext cx="404164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846320" y="1207008"/>
            <a:ext cx="64008" cy="78638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010912" y="1389888"/>
            <a:ext cx="365760" cy="36576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010912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504688" y="1271016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North Harford dependency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504688" y="1572768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75% from 1 store = risk. Study it. Copy it to all 9 stores.</a:t>
            </a:r>
          </a:p>
        </p:txBody>
      </p:sp>
      <p:sp>
        <p:nvSpPr>
          <p:cNvPr id="41" name="Shape 39"/>
          <p:cNvSpPr/>
          <p:nvPr/>
        </p:nvSpPr>
        <p:spPr>
          <a:xfrm>
            <a:off x="4846320" y="2084832"/>
            <a:ext cx="404164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846320" y="2084832"/>
            <a:ext cx="64008" cy="78638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010912" y="2267712"/>
            <a:ext cx="365760" cy="36576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010912" y="2267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504688" y="2148840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Bundle Stationery + Textbooks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504688" y="2450592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'Buy textbook, get 20% off supplies' — raises basket size.</a:t>
            </a:r>
          </a:p>
        </p:txBody>
      </p:sp>
      <p:sp>
        <p:nvSpPr>
          <p:cNvPr id="47" name="Shape 45"/>
          <p:cNvSpPr/>
          <p:nvPr/>
        </p:nvSpPr>
        <p:spPr>
          <a:xfrm>
            <a:off x="4846320" y="2962656"/>
            <a:ext cx="404164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846320" y="2962656"/>
            <a:ext cx="64008" cy="78638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010912" y="3145536"/>
            <a:ext cx="365760" cy="36576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5010912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504688" y="3026664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Activate Annapolis &amp; Queen Anne's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504688" y="3328416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events and local discount days to grow these stores.</a:t>
            </a:r>
          </a:p>
        </p:txBody>
      </p:sp>
      <p:sp>
        <p:nvSpPr>
          <p:cNvPr id="53" name="Shape 51"/>
          <p:cNvSpPr/>
          <p:nvPr/>
        </p:nvSpPr>
        <p:spPr>
          <a:xfrm>
            <a:off x="4846320" y="3840480"/>
            <a:ext cx="404164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4846320" y="3840480"/>
            <a:ext cx="64008" cy="78638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5010912" y="4023360"/>
            <a:ext cx="365760" cy="36576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5010912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504688" y="3904488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VIP tier for Cole Brown &amp; top 3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5504688" y="4206240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spends $6K–$7.6K per year. Keep them loyal.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16459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  <a:endParaRPr lang="en-US" sz="3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0" y="786384"/>
            <a:ext cx="274320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37744" y="987552"/>
            <a:ext cx="4096512" cy="1572768"/>
          </a:xfrm>
          <a:prstGeom prst="rect">
            <a:avLst/>
          </a:prstGeom>
          <a:solidFill>
            <a:srgbClr val="243447"/>
          </a:solidFill>
          <a:ln w="25400">
            <a:solidFill>
              <a:srgbClr val="2DD4B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7744" y="987552"/>
            <a:ext cx="73152" cy="157276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02336" y="113385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📈</a:t>
            </a:r>
          </a:p>
        </p:txBody>
      </p:sp>
      <p:sp>
        <p:nvSpPr>
          <p:cNvPr id="8" name="Text 6"/>
          <p:cNvSpPr/>
          <p:nvPr/>
        </p:nvSpPr>
        <p:spPr>
          <a:xfrm>
            <a:off x="1060704" y="1152144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Erbayne is Growing Fast</a:t>
            </a:r>
            <a:endParaRPr lang="en-US" sz="1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" y="1536192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$16K → $65K/month. ×4 in 4 years.</a:t>
            </a:r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Momentum is strong. Keep investing.</a:t>
            </a:r>
          </a:p>
        </p:txBody>
      </p:sp>
      <p:sp>
        <p:nvSpPr>
          <p:cNvPr id="10" name="Shape 8"/>
          <p:cNvSpPr/>
          <p:nvPr/>
        </p:nvSpPr>
        <p:spPr>
          <a:xfrm>
            <a:off x="4773168" y="987552"/>
            <a:ext cx="4096512" cy="1572768"/>
          </a:xfrm>
          <a:prstGeom prst="rect">
            <a:avLst/>
          </a:prstGeom>
          <a:solidFill>
            <a:srgbClr val="243447"/>
          </a:solidFill>
          <a:ln w="25400">
            <a:solidFill>
              <a:srgbClr val="F871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73168" y="987552"/>
            <a:ext cx="73152" cy="157276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37760" y="113385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⚠</a:t>
            </a:r>
          </a:p>
        </p:txBody>
      </p:sp>
      <p:sp>
        <p:nvSpPr>
          <p:cNvPr id="13" name="Text 11"/>
          <p:cNvSpPr/>
          <p:nvPr/>
        </p:nvSpPr>
        <p:spPr>
          <a:xfrm>
            <a:off x="5596128" y="1152144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North Harford — Risk + Reward</a:t>
            </a:r>
            <a:endParaRPr lang="en-US" sz="1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596128" y="1536192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75% of Shruti's revenue from one store.</a:t>
            </a:r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it. Copy it. Spread it.</a:t>
            </a:r>
          </a:p>
        </p:txBody>
      </p:sp>
      <p:sp>
        <p:nvSpPr>
          <p:cNvPr id="15" name="Shape 13"/>
          <p:cNvSpPr/>
          <p:nvPr/>
        </p:nvSpPr>
        <p:spPr>
          <a:xfrm>
            <a:off x="237744" y="2761488"/>
            <a:ext cx="4096512" cy="1572768"/>
          </a:xfrm>
          <a:prstGeom prst="rect">
            <a:avLst/>
          </a:prstGeom>
          <a:solidFill>
            <a:srgbClr val="243447"/>
          </a:solidFill>
          <a:ln w="25400">
            <a:solidFill>
              <a:srgbClr val="60A5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37744" y="2761488"/>
            <a:ext cx="73152" cy="15727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02336" y="29077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🛒</a:t>
            </a:r>
          </a:p>
        </p:txBody>
      </p:sp>
      <p:sp>
        <p:nvSpPr>
          <p:cNvPr id="18" name="Text 16"/>
          <p:cNvSpPr/>
          <p:nvPr/>
        </p:nvSpPr>
        <p:spPr>
          <a:xfrm>
            <a:off x="1060704" y="292608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is the Engine</a:t>
            </a:r>
            <a:endParaRPr lang="en-US" sz="1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60704" y="3310128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~70% of revenue in both territories.</a:t>
            </a:r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 it above everything else.</a:t>
            </a:r>
          </a:p>
        </p:txBody>
      </p:sp>
      <p:sp>
        <p:nvSpPr>
          <p:cNvPr id="20" name="Shape 18"/>
          <p:cNvSpPr/>
          <p:nvPr/>
        </p:nvSpPr>
        <p:spPr>
          <a:xfrm>
            <a:off x="4773168" y="2761488"/>
            <a:ext cx="4096512" cy="1572768"/>
          </a:xfrm>
          <a:prstGeom prst="rect">
            <a:avLst/>
          </a:prstGeom>
          <a:solidFill>
            <a:srgbClr val="243447"/>
          </a:solidFill>
          <a:ln w="25400">
            <a:solidFill>
              <a:srgbClr val="FBBF2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73168" y="2761488"/>
            <a:ext cx="73152" cy="15727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937760" y="29077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★</a:t>
            </a:r>
          </a:p>
        </p:txBody>
      </p:sp>
      <p:sp>
        <p:nvSpPr>
          <p:cNvPr id="23" name="Text 21"/>
          <p:cNvSpPr/>
          <p:nvPr/>
        </p:nvSpPr>
        <p:spPr>
          <a:xfrm>
            <a:off x="5596128" y="292608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Trent Lane — Cross-Territory</a:t>
            </a:r>
            <a:endParaRPr lang="en-US" sz="1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596128" y="3310128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10 in BOTH Maine and Maryland.</a:t>
            </a:r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 one VIP offer. Maximum impact.</a:t>
            </a:r>
          </a:p>
        </p:txBody>
      </p:sp>
      <p:sp>
        <p:nvSpPr>
          <p:cNvPr id="25" name="Shape 23"/>
          <p:cNvSpPr/>
          <p:nvPr/>
        </p:nvSpPr>
        <p:spPr>
          <a:xfrm>
            <a:off x="0" y="4434840"/>
            <a:ext cx="9144000" cy="475488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0" y="4434840"/>
            <a:ext cx="9144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" y="448970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Bottom line: Technology &amp; Accessories first. Then grow Art Supplies, Books, and Stationery. The data shows exactly where the money is.</a:t>
            </a:r>
            <a:endParaRPr lang="en-US" sz="10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0" y="5084064"/>
            <a:ext cx="9144000" cy="640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970</Words>
  <Application>Microsoft Macintosh PowerPoint</Application>
  <PresentationFormat>On-screen Show (16:9)</PresentationFormat>
  <Paragraphs>236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eyerusalem debero</cp:lastModifiedBy>
  <cp:revision>2</cp:revision>
  <dcterms:created xsi:type="dcterms:W3CDTF">2026-05-29T09:16:25Z</dcterms:created>
  <dcterms:modified xsi:type="dcterms:W3CDTF">2026-05-29T10:16:29Z</dcterms:modified>
</cp:coreProperties>
</file>